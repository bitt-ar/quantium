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8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3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C2B3A"/>
                </a:solidFill>
                <a:latin typeface="Arial"/>
              </a:rPr>
              <a:t>Monthly Total Sales – Jul 2018 to Jun 2019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ln w="38100" cap="flat">
              <a:solidFill>
                <a:srgbClr val="1E5F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5FA0"/>
              </a:solidFill>
              <a:ln w="9525" cap="flat">
                <a:solidFill>
                  <a:srgbClr val="1E5FA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Jul-18</c:v>
                </c:pt>
                <c:pt idx="1">
                  <c:v>Aug-18</c:v>
                </c:pt>
                <c:pt idx="2">
                  <c:v>Sep-18</c:v>
                </c:pt>
                <c:pt idx="3">
                  <c:v>Oct-18</c:v>
                </c:pt>
                <c:pt idx="4">
                  <c:v>Nov-18</c:v>
                </c:pt>
                <c:pt idx="5">
                  <c:v>Dec-18</c:v>
                </c:pt>
                <c:pt idx="6">
                  <c:v>Jan-19</c:v>
                </c:pt>
                <c:pt idx="7">
                  <c:v>Feb-19</c:v>
                </c:pt>
                <c:pt idx="8">
                  <c:v>Mar-19</c:v>
                </c:pt>
                <c:pt idx="9">
                  <c:v>Apr-19</c:v>
                </c:pt>
                <c:pt idx="10">
                  <c:v>May-19</c:v>
                </c:pt>
                <c:pt idx="11">
                  <c:v>Jun-19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153870</c:v>
                </c:pt>
                <c:pt idx="1">
                  <c:v>147765</c:v>
                </c:pt>
                <c:pt idx="2">
                  <c:v>152170</c:v>
                </c:pt>
                <c:pt idx="3">
                  <c:v>148778</c:v>
                </c:pt>
                <c:pt idx="4">
                  <c:v>152447</c:v>
                </c:pt>
                <c:pt idx="5">
                  <c:v>156462</c:v>
                </c:pt>
                <c:pt idx="6">
                  <c:v>149778</c:v>
                </c:pt>
                <c:pt idx="7">
                  <c:v>140480</c:v>
                </c:pt>
                <c:pt idx="8">
                  <c:v>151758</c:v>
                </c:pt>
                <c:pt idx="9">
                  <c:v>149572</c:v>
                </c:pt>
                <c:pt idx="10">
                  <c:v>150453</c:v>
                </c:pt>
                <c:pt idx="11">
                  <c:v>151169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EF2-4A7B-9901-474DDF2A40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2B3A"/>
                </a:solidFill>
                <a:latin typeface="Arial"/>
              </a:rPr>
              <a:t>Total Sales by Brand (Top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1E5F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9E-4D70-90E5-73FF35B41BA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E9E-4D70-90E5-73FF35B41BA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E9E-4D70-90E5-73FF35B41BAC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9E-4D70-90E5-73FF35B41BAC}"/>
              </c:ext>
            </c:extLst>
          </c:dPt>
          <c:dPt>
            <c:idx val="4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9E-4D70-90E5-73FF35B41BAC}"/>
              </c:ext>
            </c:extLst>
          </c:dPt>
          <c:dPt>
            <c:idx val="5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9E-4D70-90E5-73FF35B41BAC}"/>
              </c:ext>
            </c:extLst>
          </c:dPt>
          <c:dPt>
            <c:idx val="6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E9E-4D70-90E5-73FF35B41BAC}"/>
              </c:ext>
            </c:extLst>
          </c:dPt>
          <c:dPt>
            <c:idx val="7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E9E-4D70-90E5-73FF35B41BAC}"/>
              </c:ext>
            </c:extLst>
          </c:dPt>
          <c:dPt>
            <c:idx val="8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E9E-4D70-90E5-73FF35B41BAC}"/>
              </c:ext>
            </c:extLst>
          </c:dPt>
          <c:dPt>
            <c:idx val="9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E9E-4D70-90E5-73FF35B41BA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C2B3A"/>
                    </a:solidFill>
                    <a:latin typeface="Arial"/>
                  </a:defRPr>
                </a:pPr>
                <a:endParaRPr lang="ar-D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Kettle</c:v>
                </c:pt>
                <c:pt idx="1">
                  <c:v>Doritos</c:v>
                </c:pt>
                <c:pt idx="2">
                  <c:v>Smiths</c:v>
                </c:pt>
                <c:pt idx="3">
                  <c:v>Pringles</c:v>
                </c:pt>
                <c:pt idx="4">
                  <c:v>Infuzions</c:v>
                </c:pt>
                <c:pt idx="5">
                  <c:v>Thins</c:v>
                </c:pt>
                <c:pt idx="6">
                  <c:v>Twisties</c:v>
                </c:pt>
                <c:pt idx="7">
                  <c:v>Tostitos</c:v>
                </c:pt>
                <c:pt idx="8">
                  <c:v>Cobs</c:v>
                </c:pt>
                <c:pt idx="9">
                  <c:v>Red Rock Deli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394000</c:v>
                </c:pt>
                <c:pt idx="1">
                  <c:v>228000</c:v>
                </c:pt>
                <c:pt idx="2">
                  <c:v>210000</c:v>
                </c:pt>
                <c:pt idx="3">
                  <c:v>172000</c:v>
                </c:pt>
                <c:pt idx="4">
                  <c:v>98000</c:v>
                </c:pt>
                <c:pt idx="5">
                  <c:v>86000</c:v>
                </c:pt>
                <c:pt idx="6">
                  <c:v>82000</c:v>
                </c:pt>
                <c:pt idx="7">
                  <c:v>78000</c:v>
                </c:pt>
                <c:pt idx="8">
                  <c:v>68000</c:v>
                </c:pt>
                <c:pt idx="9">
                  <c:v>58000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E9E-4D70-90E5-73FF35B41B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3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C2B3A"/>
                </a:solidFill>
                <a:latin typeface="Arial"/>
              </a:rPr>
              <a:t>Total Sales by Pack Size (Top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1E5F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5F9-4125-8D11-321EC595902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5F9-4125-8D11-321EC595902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5F9-4125-8D11-321EC5959029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5F9-4125-8D11-321EC5959029}"/>
              </c:ext>
            </c:extLst>
          </c:dPt>
          <c:dPt>
            <c:idx val="4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5F9-4125-8D11-321EC5959029}"/>
              </c:ext>
            </c:extLst>
          </c:dPt>
          <c:dPt>
            <c:idx val="5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5F9-4125-8D11-321EC5959029}"/>
              </c:ext>
            </c:extLst>
          </c:dPt>
          <c:dPt>
            <c:idx val="6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5F9-4125-8D11-321EC5959029}"/>
              </c:ext>
            </c:extLst>
          </c:dPt>
          <c:dPt>
            <c:idx val="7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5F9-4125-8D11-321EC5959029}"/>
              </c:ext>
            </c:extLst>
          </c:dPt>
          <c:dPt>
            <c:idx val="8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5F9-4125-8D11-321EC5959029}"/>
              </c:ext>
            </c:extLst>
          </c:dPt>
          <c:dPt>
            <c:idx val="9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5F9-4125-8D11-321EC595902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C2B3A"/>
                    </a:solidFill>
                    <a:latin typeface="Arial"/>
                  </a:defRPr>
                </a:pPr>
                <a:endParaRPr lang="ar-D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175g</c:v>
                </c:pt>
                <c:pt idx="1">
                  <c:v>150g</c:v>
                </c:pt>
                <c:pt idx="2">
                  <c:v>134g</c:v>
                </c:pt>
                <c:pt idx="3">
                  <c:v>110g</c:v>
                </c:pt>
                <c:pt idx="4">
                  <c:v>170g</c:v>
                </c:pt>
                <c:pt idx="5">
                  <c:v>330g</c:v>
                </c:pt>
                <c:pt idx="6">
                  <c:v>165g</c:v>
                </c:pt>
                <c:pt idx="7">
                  <c:v>380g</c:v>
                </c:pt>
                <c:pt idx="8">
                  <c:v>270g</c:v>
                </c:pt>
                <c:pt idx="9">
                  <c:v>210g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485431</c:v>
                </c:pt>
                <c:pt idx="1">
                  <c:v>289682</c:v>
                </c:pt>
                <c:pt idx="2">
                  <c:v>177656</c:v>
                </c:pt>
                <c:pt idx="3">
                  <c:v>162765</c:v>
                </c:pt>
                <c:pt idx="4">
                  <c:v>146673</c:v>
                </c:pt>
                <c:pt idx="5">
                  <c:v>136794</c:v>
                </c:pt>
                <c:pt idx="6">
                  <c:v>101361</c:v>
                </c:pt>
                <c:pt idx="7">
                  <c:v>75433</c:v>
                </c:pt>
                <c:pt idx="8">
                  <c:v>55425</c:v>
                </c:pt>
                <c:pt idx="9">
                  <c:v>43049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5F9-4125-8D11-321EC59590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2B3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C2B3A"/>
                </a:solidFill>
                <a:latin typeface="Arial"/>
              </a:rPr>
              <a:t>By Customer Tier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737-4D15-80C2-DEE325BEC8B5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37-4D15-80C2-DEE325BEC8B5}"/>
              </c:ext>
            </c:extLst>
          </c:dPt>
          <c:dPt>
            <c:idx val="2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37-4D15-80C2-DEE325BEC8B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D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737-4D15-80C2-DEE325BEC8B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D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37-4D15-80C2-DEE325BEC8B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D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737-4D15-80C2-DEE325BEC8B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ar-DZ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Mainstream</c:v>
                </c:pt>
                <c:pt idx="1">
                  <c:v>Budget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44.9</c:v>
                </c:pt>
                <c:pt idx="1">
                  <c:v>35</c:v>
                </c:pt>
                <c:pt idx="2">
                  <c:v>20.100000000000001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37-4D15-80C2-DEE325BEC8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ar-DZ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2B3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C2B3A"/>
                </a:solidFill>
                <a:latin typeface="Arial"/>
              </a:rPr>
              <a:t>By Age Group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 Group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9F-4571-9614-D195D3D96BEF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9F-4571-9614-D195D3D96BEF}"/>
              </c:ext>
            </c:extLst>
          </c:dPt>
          <c:dPt>
            <c:idx val="2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9F-4571-9614-D195D3D96BEF}"/>
              </c:ext>
            </c:extLst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9F-4571-9614-D195D3D96BE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D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9F-4571-9614-D195D3D96BE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D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9F-4571-9614-D195D3D96BE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D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9F-4571-9614-D195D3D96BE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D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29F-4571-9614-D195D3D96BE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ar-DZ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Older</c:v>
                </c:pt>
                <c:pt idx="1">
                  <c:v>Young</c:v>
                </c:pt>
                <c:pt idx="2">
                  <c:v>Retirees</c:v>
                </c:pt>
                <c:pt idx="3">
                  <c:v>Mid-age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40.1</c:v>
                </c:pt>
                <c:pt idx="1">
                  <c:v>30.6</c:v>
                </c:pt>
                <c:pt idx="2">
                  <c:v>19.5</c:v>
                </c:pt>
                <c:pt idx="3">
                  <c:v>9.8000000000000007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9F-4571-9614-D195D3D96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ar-DZ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2B3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C2B3A"/>
                </a:solidFill>
                <a:latin typeface="Arial"/>
              </a:rPr>
              <a:t>RFM Segment Distribution (71,288 Customers)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rgbClr val="1E5F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FE-4BE3-93D6-EA18FEB7F818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FE-4BE3-93D6-EA18FEB7F818}"/>
              </c:ext>
            </c:extLst>
          </c:dPt>
          <c:dPt>
            <c:idx val="2"/>
            <c:invertIfNegative val="0"/>
            <c:bubble3D val="0"/>
            <c:spPr>
              <a:solidFill>
                <a:srgbClr val="8899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FE-4BE3-93D6-EA18FEB7F818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7FE-4BE3-93D6-EA18FEB7F818}"/>
              </c:ext>
            </c:extLst>
          </c:dPt>
          <c:dPt>
            <c:idx val="4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7FE-4BE3-93D6-EA18FEB7F818}"/>
              </c:ext>
            </c:extLst>
          </c:dPt>
          <c:dPt>
            <c:idx val="5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7FE-4BE3-93D6-EA18FEB7F818}"/>
              </c:ext>
            </c:extLst>
          </c:dPt>
          <c:dPt>
            <c:idx val="6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7FE-4BE3-93D6-EA18FEB7F818}"/>
              </c:ext>
            </c:extLst>
          </c:dPt>
          <c:dPt>
            <c:idx val="7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7FE-4BE3-93D6-EA18FEB7F818}"/>
              </c:ext>
            </c:extLst>
          </c:dPt>
          <c:dPt>
            <c:idx val="8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7FE-4BE3-93D6-EA18FEB7F818}"/>
              </c:ext>
            </c:extLst>
          </c:dPt>
          <c:dPt>
            <c:idx val="9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67FE-4BE3-93D6-EA18FEB7F81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C2B3A"/>
                    </a:solidFill>
                    <a:latin typeface="Arial"/>
                  </a:defRPr>
                </a:pPr>
                <a:endParaRPr lang="ar-D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Loyal
Customers</c:v>
                </c:pt>
                <c:pt idx="1">
                  <c:v>Lost</c:v>
                </c:pt>
                <c:pt idx="2">
                  <c:v>Others</c:v>
                </c:pt>
                <c:pt idx="3">
                  <c:v>Champions</c:v>
                </c:pt>
                <c:pt idx="4">
                  <c:v>Need
Attention</c:v>
                </c:pt>
                <c:pt idx="5">
                  <c:v>Potential
Loyalists</c:v>
                </c:pt>
                <c:pt idx="6">
                  <c:v>About to
Sleep</c:v>
                </c:pt>
                <c:pt idx="7">
                  <c:v>Promising</c:v>
                </c:pt>
                <c:pt idx="8">
                  <c:v>At Risk</c:v>
                </c:pt>
                <c:pt idx="9">
                  <c:v>New
Customers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13637</c:v>
                </c:pt>
                <c:pt idx="1">
                  <c:v>10514</c:v>
                </c:pt>
                <c:pt idx="2">
                  <c:v>8988</c:v>
                </c:pt>
                <c:pt idx="3">
                  <c:v>8795</c:v>
                </c:pt>
                <c:pt idx="4">
                  <c:v>7808</c:v>
                </c:pt>
                <c:pt idx="5">
                  <c:v>6739</c:v>
                </c:pt>
                <c:pt idx="6">
                  <c:v>5821</c:v>
                </c:pt>
                <c:pt idx="7">
                  <c:v>5578</c:v>
                </c:pt>
                <c:pt idx="8">
                  <c:v>2043</c:v>
                </c:pt>
                <c:pt idx="9">
                  <c:v>1365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67FE-4BE3-93D6-EA18FEB7F8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C2B3A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1C2B3A"/>
                </a:solidFill>
                <a:latin typeface="Arial"/>
              </a:rPr>
              <a:t>Brand Affinity Index vs. All Other Segments (&gt;1.0 = over-indexing)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Affinity Index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E9-4916-BE8A-9E2C073DAAD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CE9-4916-BE8A-9E2C073DAAD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CE9-4916-BE8A-9E2C073DAAD8}"/>
              </c:ext>
            </c:extLst>
          </c:dPt>
          <c:dPt>
            <c:idx val="3"/>
            <c:invertIfNegative val="0"/>
            <c:bubble3D val="0"/>
            <c:spPr>
              <a:solidFill>
                <a:srgbClr val="1E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E9-4916-BE8A-9E2C073DAAD8}"/>
              </c:ext>
            </c:extLst>
          </c:dPt>
          <c:dPt>
            <c:idx val="4"/>
            <c:invertIfNegative val="0"/>
            <c:bubble3D val="0"/>
            <c:spPr>
              <a:solidFill>
                <a:srgbClr val="1E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CE9-4916-BE8A-9E2C073DAAD8}"/>
              </c:ext>
            </c:extLst>
          </c:dPt>
          <c:dPt>
            <c:idx val="5"/>
            <c:invertIfNegative val="0"/>
            <c:bubble3D val="0"/>
            <c:spPr>
              <a:solidFill>
                <a:srgbClr val="1E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CE9-4916-BE8A-9E2C073DAAD8}"/>
              </c:ext>
            </c:extLst>
          </c:dPt>
          <c:dPt>
            <c:idx val="6"/>
            <c:invertIfNegative val="0"/>
            <c:bubble3D val="0"/>
            <c:spPr>
              <a:solidFill>
                <a:srgbClr val="1E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CE9-4916-BE8A-9E2C073DAAD8}"/>
              </c:ext>
            </c:extLst>
          </c:dPt>
          <c:dPt>
            <c:idx val="7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CE9-4916-BE8A-9E2C073DAAD8}"/>
              </c:ext>
            </c:extLst>
          </c:dPt>
          <c:dPt>
            <c:idx val="8"/>
            <c:invertIfNegative val="0"/>
            <c:bubble3D val="0"/>
            <c:spPr>
              <a:solidFill>
                <a:srgbClr val="8899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CE9-4916-BE8A-9E2C073DAAD8}"/>
              </c:ext>
            </c:extLst>
          </c:dPt>
          <c:dPt>
            <c:idx val="9"/>
            <c:invertIfNegative val="0"/>
            <c:bubble3D val="0"/>
            <c:spPr>
              <a:solidFill>
                <a:srgbClr val="8899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CE9-4916-BE8A-9E2C073DAAD8}"/>
              </c:ext>
            </c:extLst>
          </c:dPt>
          <c:dPt>
            <c:idx val="10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DCE9-4916-BE8A-9E2C073DAAD8}"/>
              </c:ext>
            </c:extLst>
          </c:dPt>
          <c:dPt>
            <c:idx val="1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DCE9-4916-BE8A-9E2C073DAA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C2B3A"/>
                    </a:solidFill>
                    <a:latin typeface="Arial"/>
                  </a:defRPr>
                </a:pPr>
                <a:endParaRPr lang="ar-D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Tostitos</c:v>
                </c:pt>
                <c:pt idx="1">
                  <c:v>Tyrrells</c:v>
                </c:pt>
                <c:pt idx="2">
                  <c:v>Twisties</c:v>
                </c:pt>
                <c:pt idx="3">
                  <c:v>Kettle</c:v>
                </c:pt>
                <c:pt idx="4">
                  <c:v>Doritos</c:v>
                </c:pt>
                <c:pt idx="5">
                  <c:v>Cobs</c:v>
                </c:pt>
                <c:pt idx="6">
                  <c:v>Pringles</c:v>
                </c:pt>
                <c:pt idx="7">
                  <c:v>Infuzions</c:v>
                </c:pt>
                <c:pt idx="8">
                  <c:v>Thins</c:v>
                </c:pt>
                <c:pt idx="9">
                  <c:v>Grain Waves</c:v>
                </c:pt>
                <c:pt idx="10">
                  <c:v>Cheezels</c:v>
                </c:pt>
                <c:pt idx="11">
                  <c:v>Smiths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1.139</c:v>
                </c:pt>
                <c:pt idx="1">
                  <c:v>1.135</c:v>
                </c:pt>
                <c:pt idx="2">
                  <c:v>1.135</c:v>
                </c:pt>
                <c:pt idx="3">
                  <c:v>1.133</c:v>
                </c:pt>
                <c:pt idx="4">
                  <c:v>1.1319999999999999</c:v>
                </c:pt>
                <c:pt idx="5">
                  <c:v>1.1279999999999999</c:v>
                </c:pt>
                <c:pt idx="6">
                  <c:v>1.085</c:v>
                </c:pt>
                <c:pt idx="7">
                  <c:v>1.0720000000000001</c:v>
                </c:pt>
                <c:pt idx="8">
                  <c:v>1.02</c:v>
                </c:pt>
                <c:pt idx="9">
                  <c:v>1.0189999999999999</c:v>
                </c:pt>
                <c:pt idx="10">
                  <c:v>0.96599999999999997</c:v>
                </c:pt>
                <c:pt idx="11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DCE9-4916-BE8A-9E2C073DAA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2B3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C2B3A"/>
                </a:solidFill>
                <a:latin typeface="Arial"/>
              </a:rPr>
              <a:t>Store 77 vs Control (Store 233) – Monthly Sales ($)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 Store 77</c:v>
                </c:pt>
              </c:strCache>
            </c:strRef>
          </c:tx>
          <c:spPr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268</c:v>
                </c:pt>
                <c:pt idx="1">
                  <c:v>252</c:v>
                </c:pt>
                <c:pt idx="2">
                  <c:v>210</c:v>
                </c:pt>
                <c:pt idx="3">
                  <c:v>194</c:v>
                </c:pt>
                <c:pt idx="4">
                  <c:v>225</c:v>
                </c:pt>
                <c:pt idx="5">
                  <c:v>251</c:v>
                </c:pt>
                <c:pt idx="6">
                  <c:v>189</c:v>
                </c:pt>
                <c:pt idx="7">
                  <c:v>211</c:v>
                </c:pt>
                <c:pt idx="8">
                  <c:v>254</c:v>
                </c:pt>
                <c:pt idx="9">
                  <c:v>257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49C-4720-8DDE-AA84663233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Store 233 (scaled)</c:v>
                </c:pt>
              </c:strCache>
            </c:strRef>
          </c:tx>
          <c:spPr>
            <a:ln w="31750" cap="flat">
              <a:solidFill>
                <a:srgbClr val="1E5F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5FA0"/>
              </a:solidFill>
              <a:ln w="9525" cap="flat">
                <a:solidFill>
                  <a:srgbClr val="1E5FA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282</c:v>
                </c:pt>
                <c:pt idx="1">
                  <c:v>271</c:v>
                </c:pt>
                <c:pt idx="2">
                  <c:v>230</c:v>
                </c:pt>
                <c:pt idx="3">
                  <c:v>166</c:v>
                </c:pt>
                <c:pt idx="4">
                  <c:v>215</c:v>
                </c:pt>
                <c:pt idx="5">
                  <c:v>276</c:v>
                </c:pt>
                <c:pt idx="6">
                  <c:v>157</c:v>
                </c:pt>
                <c:pt idx="7">
                  <c:v>229</c:v>
                </c:pt>
                <c:pt idx="8">
                  <c:v>188</c:v>
                </c:pt>
                <c:pt idx="9">
                  <c:v>150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49C-4720-8DDE-AA8466323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ar-D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ar-DZ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765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731520"/>
            <a:ext cx="3474720" cy="3474720"/>
          </a:xfrm>
          <a:prstGeom prst="ellipse">
            <a:avLst/>
          </a:prstGeom>
          <a:solidFill>
            <a:srgbClr val="1E5FA0">
              <a:alpha val="30000"/>
            </a:srgbClr>
          </a:solidFill>
          <a:ln w="12700">
            <a:solidFill>
              <a:srgbClr val="1E5FA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743200"/>
            <a:ext cx="2194560" cy="2194560"/>
          </a:xfrm>
          <a:prstGeom prst="ellipse">
            <a:avLst/>
          </a:prstGeom>
          <a:solidFill>
            <a:srgbClr val="0D7A8A">
              <a:alpha val="25000"/>
            </a:srgbClr>
          </a:solidFill>
          <a:ln w="12700">
            <a:solidFill>
              <a:srgbClr val="0D7A8A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A623"/>
                </a:solidFill>
              </a:rPr>
              <a:t>QUANTIUM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Report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EEF5"/>
                </a:solidFill>
              </a:rPr>
              <a:t>Data-Driven Insights &amp; Recommendations for H2 Planning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EF5"/>
                </a:solidFill>
              </a:rPr>
              <a:t>Prepared for: </a:t>
            </a:r>
            <a:r>
              <a:rPr lang="en-US" sz="1100" dirty="0">
                <a:solidFill>
                  <a:srgbClr val="E8EEF5"/>
                </a:solidFill>
              </a:rPr>
              <a:t>Julia, </a:t>
            </a:r>
            <a:r>
              <a:rPr lang="en-US" sz="1100" b="1" dirty="0">
                <a:solidFill>
                  <a:srgbClr val="E8E8E8"/>
                </a:solidFill>
                <a:latin typeface="Google Sans"/>
              </a:rPr>
              <a:t>P</a:t>
            </a:r>
            <a:r>
              <a:rPr lang="en-US" sz="1100" b="1" i="0" dirty="0">
                <a:solidFill>
                  <a:srgbClr val="E8E8E8"/>
                </a:solidFill>
                <a:effectLst/>
                <a:latin typeface="Google Sans"/>
              </a:rPr>
              <a:t>roduct</a:t>
            </a:r>
            <a:r>
              <a:rPr lang="en-US" sz="1100" dirty="0">
                <a:solidFill>
                  <a:srgbClr val="E8EEF5"/>
                </a:solidFill>
              </a:rPr>
              <a:t>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EF5"/>
                </a:solidFill>
              </a:rPr>
              <a:t>Period: </a:t>
            </a:r>
            <a:r>
              <a:rPr lang="en-US" sz="1100" dirty="0">
                <a:solidFill>
                  <a:srgbClr val="E8EEF5"/>
                </a:solidFill>
              </a:rPr>
              <a:t>July 2018 – June 2019  |  Trial: Feb–Apr 2019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886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EF5"/>
                </a:solidFill>
              </a:rPr>
              <a:t>Framework: </a:t>
            </a:r>
            <a:r>
              <a:rPr lang="en-US" sz="1100" dirty="0">
                <a:solidFill>
                  <a:srgbClr val="E8EEF5"/>
                </a:solidFill>
              </a:rPr>
              <a:t>Pyramid Principles – Insight → Evidence → Recommendation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914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264,836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72,637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Customers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272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PYRAMID TOP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960120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8755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The chips category is healthy and growing. Two of three trial stores achieved statistically significant sales uplifts. Mainstream Singles/Couples drive 44% of revenue, and Kettle is the undisputed category leader. Immediate rollout of the trial format to similar stores is recommended.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5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48840"/>
            <a:ext cx="2011680" cy="64008"/>
          </a:xfrm>
          <a:prstGeom prst="rect">
            <a:avLst/>
          </a:prstGeom>
          <a:solidFill>
            <a:srgbClr val="1E5FA0"/>
          </a:solidFill>
          <a:ln w="12700">
            <a:solidFill>
              <a:srgbClr val="1E5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40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5FA0"/>
                </a:solidFill>
              </a:rPr>
              <a:t>$156,462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2B3A"/>
                </a:solidFill>
              </a:rPr>
              <a:t>Peak Month Sales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December 2018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214884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2148840"/>
            <a:ext cx="201168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240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A8A"/>
                </a:solidFill>
              </a:rPr>
              <a:t>Mainstream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6888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2B3A"/>
                </a:solidFill>
              </a:rPr>
              <a:t>#1 Customer Segment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6888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44.9% of sales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214884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148840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240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Kettle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1772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2B3A"/>
                </a:solidFill>
              </a:rPr>
              <a:t>Top Brand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Highest total revenue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66560" y="214884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2148840"/>
            <a:ext cx="20116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240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</a:rPr>
              <a:t>2 / 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2B3A"/>
                </a:solidFill>
              </a:rPr>
              <a:t>Trial Success Rate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6656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Stores 77 &amp; 88 uplift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Data covers July 2018 – June 2019 | Source: Quantium QVI Transaction &amp; Purchase Behaviour Data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51560"/>
            <a:ext cx="347472" cy="347472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996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</a:rPr>
              <a:t>Sales Performance &amp; Trends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2344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Monthly sales, seasonality, peak periods and key drivers.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527048"/>
            <a:ext cx="8412480" cy="530352"/>
          </a:xfrm>
          <a:prstGeom prst="rect">
            <a:avLst/>
          </a:prstGeom>
          <a:solidFill>
            <a:srgbClr val="E8EEF5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618488"/>
            <a:ext cx="347472" cy="347472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18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6112" y="1563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</a:rPr>
              <a:t>Brand &amp; Product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18013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Top brands, pack sizes, revenue contribution and SKU insights.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93976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185416"/>
            <a:ext cx="347472" cy="347472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185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6112" y="2130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</a:rPr>
              <a:t>Customer Segmentation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2368296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Tier, age group, family stage analysis and heatmap insights.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8412480" cy="530352"/>
          </a:xfrm>
          <a:prstGeom prst="rect">
            <a:avLst/>
          </a:prstGeom>
          <a:solidFill>
            <a:srgbClr val="E8EEF5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752344"/>
            <a:ext cx="347472" cy="347472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752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6112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</a:rPr>
              <a:t>RFM Customer Intelligence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293522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Recency, frequency, monetary scoring and segment profiles.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227832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319272"/>
            <a:ext cx="347472" cy="347472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319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96112" y="3264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</a:rPr>
              <a:t>Brand Affinity Deep-Dive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35021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Mainstream Standard segment brand and size preferences.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8412480" cy="530352"/>
          </a:xfrm>
          <a:prstGeom prst="rect">
            <a:avLst/>
          </a:prstGeom>
          <a:solidFill>
            <a:srgbClr val="E8EEF5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" y="3886200"/>
            <a:ext cx="347472" cy="347472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6112" y="3831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</a:rPr>
              <a:t>Trial Store Evaluation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6112" y="40690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Control store matching, uplift testing and trial verdicts.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361688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" y="4453128"/>
            <a:ext cx="347472" cy="347472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453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</a:rPr>
              <a:t>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6112" y="4398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</a:rPr>
              <a:t>Strategic Recommendations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6112" y="463600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Pyramid-structured actions for H2 planning.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SALES PERFORMANCE &amp; TRENDS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609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6092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TASK 1 · FINDING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144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960120"/>
            <a:ext cx="28346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960120"/>
            <a:ext cx="73152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98755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99AA"/>
                </a:solidFill>
              </a:rPr>
              <a:t>PEAK MONTH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35040" y="11612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Dec 2018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14173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$156,462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97880" y="1783080"/>
            <a:ext cx="28346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97880" y="1783080"/>
            <a:ext cx="73152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181051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99AA"/>
                </a:solidFill>
              </a:rPr>
              <a:t>TROUGH MONTH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35040" y="19842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</a:rPr>
              <a:t>Feb 2019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224028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$140,480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97880" y="2606040"/>
            <a:ext cx="28346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E5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97880" y="2606040"/>
            <a:ext cx="73152" cy="713232"/>
          </a:xfrm>
          <a:prstGeom prst="rect">
            <a:avLst/>
          </a:prstGeom>
          <a:solidFill>
            <a:srgbClr val="1E5FA0"/>
          </a:solidFill>
          <a:ln w="12700">
            <a:solidFill>
              <a:srgbClr val="1E5F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6334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99AA"/>
                </a:solidFill>
              </a:rPr>
              <a:t>YOY SWING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035040" y="2807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0"/>
                </a:solidFill>
              </a:rPr>
              <a:t>~$16,000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35040" y="306324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±11% range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97880" y="3429000"/>
            <a:ext cx="28346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97880" y="3429000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0" y="345643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99AA"/>
                </a:solidFill>
              </a:rPr>
              <a:t>SEASONALITY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035040" y="36301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Festive Spike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035040" y="38862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Dec ▲ | Feb ▼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3708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💡  Insight: Chips are a year-round staple with a clear festive uplift in December. Stock and promotional activities should intensify ahead of December and sustain through the year to support stable baseline demand.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BRAND &amp; PRODUCT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609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6092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TASK 1 · FINDING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14400"/>
          <a:ext cx="53035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897880" y="9601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2B4C"/>
                </a:solidFill>
              </a:rPr>
              <a:t>TOP REVENUE SKUs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97880" y="1280160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0" y="1417320"/>
            <a:ext cx="320040" cy="320040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55080" y="13167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3A"/>
                </a:solidFill>
              </a:rPr>
              <a:t>Doritos Corn Chip Supreme 380g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355080" y="16093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$39,065  |  2.16% of sales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1993392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130552"/>
            <a:ext cx="320040" cy="320040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130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55080" y="20299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3A"/>
                </a:solidFill>
              </a:rPr>
              <a:t>Smiths CrinkleChip Orig. 380g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55080" y="23225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$36,368  |  2.01% of sales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897880" y="2706624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2843784"/>
            <a:ext cx="320040" cy="320040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2843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5508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3A"/>
                </a:solidFill>
              </a:rPr>
              <a:t>Smiths Crinkle Chips Salt 330g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355080" y="30358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$34,804  |  1.93% of sales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897880" y="3419856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43600" y="3557016"/>
            <a:ext cx="320040" cy="320040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55080" y="34564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3A"/>
                </a:solidFill>
              </a:rPr>
              <a:t>Kettle Mozzarella Basil 175g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35508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$34,457  |  1.91% of sales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43708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💡  Insight: Kettle dominates with strong premium positioning. Doritos and Smiths drive volume through large-format SKUs. Shelf space and promo investment should weight toward these three primary revenue generators.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PACK SIZE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609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6092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TASK 1 · FINDING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14400"/>
          <a:ext cx="53035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897880" y="9601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2B4C"/>
                </a:solidFill>
              </a:rPr>
              <a:t>PRICE EFFICIENCY BY SIZE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97880" y="1298448"/>
            <a:ext cx="2834640" cy="25603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298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</a:rPr>
              <a:t>Size   |  Revenue  |  $/unit  |  $/g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897880" y="1600200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600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175g  |  $485K  |  $3.84  |  $0.022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897880" y="1984248"/>
            <a:ext cx="2834640" cy="347472"/>
          </a:xfrm>
          <a:prstGeom prst="rect">
            <a:avLst/>
          </a:prstGeom>
          <a:solidFill>
            <a:srgbClr val="E8EEF5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984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150g  |  $290K  |  $3.78  |  $0.025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97880" y="2368296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3682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380g  |  $75K  |  $6.14  |  $0.016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897880" y="2752344"/>
            <a:ext cx="2834640" cy="347472"/>
          </a:xfrm>
          <a:prstGeom prst="rect">
            <a:avLst/>
          </a:prstGeom>
          <a:solidFill>
            <a:srgbClr val="E8EEF5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27523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110g  |  $163K  |  $3.80  |  $0.035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897880" y="320040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B4C"/>
                </a:solidFill>
              </a:rPr>
              <a:t>175g is the #1 SKU by both volume and revenue — the cornerstone pack for range planning.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3708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💡  Insight: The 150g–175g range offers the best balance of consumer value perception and retailer revenue. Larger formats (330g, 380g) command premium per-unit prices and suit the Mainstream Standard segment.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CUSTOMER SEGMENTATION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609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6092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TASK 1 · FINDING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14400"/>
          <a:ext cx="29260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3200400" y="914400"/>
          <a:ext cx="29260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960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2B4C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309360" y="1298448"/>
            <a:ext cx="25603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355080" y="13350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5FA0"/>
                </a:solidFill>
              </a:rPr>
              <a:t>44.9%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35508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Mainstream share of total sales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6309360" y="2048256"/>
            <a:ext cx="25603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355080" y="20848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43.9%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5080" y="23957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Sales from 'No Family' singles/couples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309360" y="2798064"/>
            <a:ext cx="25603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355080" y="283464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A8A"/>
                </a:solidFill>
              </a:rPr>
              <a:t>40.1%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355080" y="31455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Sales from Older Singles/Couples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309360" y="3547872"/>
            <a:ext cx="25603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355080" y="35844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</a:rPr>
              <a:t>19.5%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355080" y="38953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Retirees contribute — stable base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43708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💡  Insight: Mainstream customers are the volume engine. Older and Young Singles/Couples together drive over 70% of age-group sales. Budget customers remain a meaningful secondary tier and should not be overlooked.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SALES HEATMAP — AGE GROUP × CUSTOMER TIER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TASK 1 · DEEP DIVE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554480" cy="530352"/>
          </a:xfrm>
          <a:prstGeom prst="rect">
            <a:avLst/>
          </a:prstGeom>
          <a:solidFill>
            <a:srgbClr val="0F2B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 Group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960120"/>
            <a:ext cx="1554480" cy="530352"/>
          </a:xfrm>
          <a:prstGeom prst="rect">
            <a:avLst/>
          </a:prstGeom>
          <a:solidFill>
            <a:srgbClr val="0F2B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9601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Budget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960120"/>
            <a:ext cx="1554480" cy="530352"/>
          </a:xfrm>
          <a:prstGeom prst="rect">
            <a:avLst/>
          </a:prstGeom>
          <a:solidFill>
            <a:srgbClr val="0F2B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9601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Mainstream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960120"/>
            <a:ext cx="1554480" cy="530352"/>
          </a:xfrm>
          <a:prstGeom prst="rect">
            <a:avLst/>
          </a:prstGeom>
          <a:solidFill>
            <a:srgbClr val="0F2B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9601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Premium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960120"/>
            <a:ext cx="1371600" cy="530352"/>
          </a:xfrm>
          <a:prstGeom prst="rect">
            <a:avLst/>
          </a:prstGeom>
          <a:solidFill>
            <a:srgbClr val="0F2B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9601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ROW TOTAL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490472"/>
            <a:ext cx="1554480" cy="530352"/>
          </a:xfrm>
          <a:prstGeom prst="rect">
            <a:avLst/>
          </a:prstGeom>
          <a:solidFill>
            <a:srgbClr val="1A3F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9047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Older S/C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1490472"/>
            <a:ext cx="1554480" cy="530352"/>
          </a:xfrm>
          <a:prstGeom prst="rect">
            <a:avLst/>
          </a:prstGeom>
          <a:solidFill>
            <a:srgbClr val="0D3B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149047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$284,697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1490472"/>
            <a:ext cx="155448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49047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$221,062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490472"/>
            <a:ext cx="155448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49047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$198,787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1490472"/>
            <a:ext cx="1371600" cy="530352"/>
          </a:xfrm>
          <a:prstGeom prst="rect">
            <a:avLst/>
          </a:prstGeom>
          <a:solidFill>
            <a:srgbClr val="E8E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49047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C"/>
                </a:solidFill>
              </a:rPr>
              <a:t>$704,546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020824"/>
            <a:ext cx="1554480" cy="530352"/>
          </a:xfrm>
          <a:prstGeom prst="rect">
            <a:avLst/>
          </a:prstGeom>
          <a:solidFill>
            <a:srgbClr val="1A3F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020824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Young S/C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20240" y="2020824"/>
            <a:ext cx="155448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2020824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$186,840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0" y="2020824"/>
            <a:ext cx="155448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020824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$233,920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2020824"/>
            <a:ext cx="1554480" cy="530352"/>
          </a:xfrm>
          <a:prstGeom prst="rect">
            <a:avLst/>
          </a:prstGeom>
          <a:solidFill>
            <a:srgbClr val="287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020824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$117,624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0" y="2020824"/>
            <a:ext cx="1371600" cy="530352"/>
          </a:xfrm>
          <a:prstGeom prst="rect">
            <a:avLst/>
          </a:prstGeom>
          <a:solidFill>
            <a:srgbClr val="E8E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02082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C"/>
                </a:solidFill>
              </a:rPr>
              <a:t>$538,384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551176"/>
            <a:ext cx="1554480" cy="530352"/>
          </a:xfrm>
          <a:prstGeom prst="rect">
            <a:avLst/>
          </a:prstGeom>
          <a:solidFill>
            <a:srgbClr val="1A3F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55117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Retirees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20240" y="2551176"/>
            <a:ext cx="1554480" cy="530352"/>
          </a:xfrm>
          <a:prstGeom prst="rect">
            <a:avLst/>
          </a:prstGeom>
          <a:solidFill>
            <a:srgbClr val="287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0240" y="255117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$105,916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0" y="2551176"/>
            <a:ext cx="1554480" cy="530352"/>
          </a:xfrm>
          <a:prstGeom prst="rect">
            <a:avLst/>
          </a:prstGeom>
          <a:solidFill>
            <a:srgbClr val="1F61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255117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$145,169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0" y="2551176"/>
            <a:ext cx="1554480" cy="530352"/>
          </a:xfrm>
          <a:prstGeom prst="rect">
            <a:avLst/>
          </a:prstGeom>
          <a:solidFill>
            <a:srgbClr val="287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255117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$91,297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2551176"/>
            <a:ext cx="1371600" cy="530352"/>
          </a:xfrm>
          <a:prstGeom prst="rect">
            <a:avLst/>
          </a:prstGeom>
          <a:solidFill>
            <a:srgbClr val="E8E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255117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C"/>
                </a:solidFill>
              </a:rPr>
              <a:t>$342,382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081528"/>
            <a:ext cx="1554480" cy="530352"/>
          </a:xfrm>
          <a:prstGeom prst="rect">
            <a:avLst/>
          </a:prstGeom>
          <a:solidFill>
            <a:srgbClr val="1A3F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08152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Mid-age S/C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920240" y="3081528"/>
            <a:ext cx="1554480" cy="530352"/>
          </a:xfrm>
          <a:prstGeom prst="rect">
            <a:avLst/>
          </a:prstGeom>
          <a:solidFill>
            <a:srgbClr val="AED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0240" y="308152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2B4C"/>
                </a:solidFill>
              </a:rPr>
              <a:t>$33,346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74720" y="3081528"/>
            <a:ext cx="1554480" cy="530352"/>
          </a:xfrm>
          <a:prstGeom prst="rect">
            <a:avLst/>
          </a:prstGeom>
          <a:solidFill>
            <a:srgbClr val="5499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308152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$84,734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29200" y="3081528"/>
            <a:ext cx="1554480" cy="530352"/>
          </a:xfrm>
          <a:prstGeom prst="rect">
            <a:avLst/>
          </a:prstGeom>
          <a:solidFill>
            <a:srgbClr val="AED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08152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2B4C"/>
                </a:solidFill>
              </a:rPr>
              <a:t>$54,444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83680" y="3081528"/>
            <a:ext cx="1371600" cy="530352"/>
          </a:xfrm>
          <a:prstGeom prst="rect">
            <a:avLst/>
          </a:prstGeom>
          <a:solidFill>
            <a:srgbClr val="E8E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308152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C"/>
                </a:solidFill>
              </a:rPr>
              <a:t>$172,524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3611880"/>
            <a:ext cx="1554480" cy="530352"/>
          </a:xfrm>
          <a:prstGeom prst="rect">
            <a:avLst/>
          </a:prstGeom>
          <a:solidFill>
            <a:srgbClr val="E8E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61188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B4C"/>
                </a:solidFill>
              </a:rPr>
              <a:t>COL TOTAL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920240" y="3611880"/>
            <a:ext cx="1554480" cy="530352"/>
          </a:xfrm>
          <a:prstGeom prst="rect">
            <a:avLst/>
          </a:prstGeom>
          <a:solidFill>
            <a:srgbClr val="E8E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20240" y="361188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B4C"/>
                </a:solidFill>
              </a:rPr>
              <a:t>$610,799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74720" y="3611880"/>
            <a:ext cx="1554480" cy="530352"/>
          </a:xfrm>
          <a:prstGeom prst="rect">
            <a:avLst/>
          </a:prstGeom>
          <a:solidFill>
            <a:srgbClr val="E8E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0" y="361188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B4C"/>
                </a:solidFill>
              </a:rPr>
              <a:t>$684,885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29200" y="3611880"/>
            <a:ext cx="1554480" cy="530352"/>
          </a:xfrm>
          <a:prstGeom prst="rect">
            <a:avLst/>
          </a:prstGeom>
          <a:solidFill>
            <a:srgbClr val="E8E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0" y="361188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B4C"/>
                </a:solidFill>
              </a:rPr>
              <a:t>$462,152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583680" y="3611880"/>
            <a:ext cx="1371600" cy="530352"/>
          </a:xfrm>
          <a:prstGeom prst="rect">
            <a:avLst/>
          </a:prstGeom>
          <a:solidFill>
            <a:srgbClr val="E8E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0" y="36118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B4C"/>
                </a:solidFill>
              </a:rPr>
              <a:t>$1,757,836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65760" y="42062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Darker blue = higher sales value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407408"/>
            <a:ext cx="8412480" cy="502920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💡  Insight: Older Mainstream customers are the highest-value cell ($221K). Young Mainstream follows ($234K). Budget Older is surprisingly large ($285K) — these are frequent, value-conscious repeat buyers.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RFM CUSTOMER INTELLIGENCE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609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6092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TASK 1 · DEEP DIVE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9601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2B4C"/>
                </a:solidFill>
              </a:rPr>
              <a:t>SEGMENT ACTION PLAN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577840" y="1280160"/>
            <a:ext cx="3200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1280160"/>
            <a:ext cx="64008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129844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Champions (8,795)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87568" y="153619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VIP exclusives, early access, loyalty perks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577840" y="1865376"/>
            <a:ext cx="3200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E5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865376"/>
            <a:ext cx="64008" cy="512064"/>
          </a:xfrm>
          <a:prstGeom prst="rect">
            <a:avLst/>
          </a:prstGeom>
          <a:solidFill>
            <a:srgbClr val="1E5FA0"/>
          </a:solidFill>
          <a:ln w="12700">
            <a:solidFill>
              <a:srgbClr val="1E5F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87568" y="188366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5FA0"/>
                </a:solidFill>
              </a:rPr>
              <a:t>Loyal Customers (13,637)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87568" y="212140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Retain via loyalty programs &amp; rewards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577840" y="2450592"/>
            <a:ext cx="3200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2450592"/>
            <a:ext cx="64008" cy="5120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24688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Lost (10,514)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87568" y="270662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Win-back: personalized discount campaigns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577840" y="3035808"/>
            <a:ext cx="3200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3035808"/>
            <a:ext cx="64008" cy="5120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87568" y="305409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A8A"/>
                </a:solidFill>
              </a:rPr>
              <a:t>Need Attention (7,808)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87568" y="329184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Re-engagement: time-limited offers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577840" y="3621024"/>
            <a:ext cx="3200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577840" y="3621024"/>
            <a:ext cx="64008" cy="5120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87568" y="36393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New Customers (1,365)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687568" y="38770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Onboarding journey → nurture to loyalty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43708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💡  Insight: Champions + Loyal Customers = 22,432 customers → core revenue base. Lost segment (10,514) = major reactivation opportunity with high ROI potential. Average customer spends $25.30 across the period.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</a:rPr>
              <a:t>BRAND AFFINITY — MAINSTREAM STANDARD SEGMENT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1323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TASK 1 · DEEP DIVE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1440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960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2B4C"/>
                </a:solidFill>
              </a:rPr>
              <a:t>SIZE AFFINITY – TOP 5 SIZES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0" y="1298448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298448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C"/>
                </a:solidFill>
              </a:rPr>
              <a:t>135g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36208" y="133502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0"/>
                </a:solidFill>
              </a:rPr>
              <a:t>1.21x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36208" y="157276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21% more likely to buy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0" y="1883664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1883664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1883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C"/>
                </a:solidFill>
              </a:rPr>
              <a:t>270g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36208" y="192024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0"/>
                </a:solidFill>
              </a:rPr>
              <a:t>1.17x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36208" y="215798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Value/share packs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669280" y="246888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69280" y="246888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C"/>
                </a:solidFill>
              </a:rPr>
              <a:t>380g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36208" y="25054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0"/>
                </a:solidFill>
              </a:rPr>
              <a:t>1.16x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36208" y="27432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Large format preference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669280" y="3054096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69280" y="3054096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C"/>
                </a:solidFill>
              </a:rPr>
              <a:t>110g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36208" y="309067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0"/>
                </a:solidFill>
              </a:rPr>
              <a:t>1.13x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236208" y="332841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Convenient size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69280" y="3639312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69280" y="3639312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C"/>
                </a:solidFill>
              </a:rPr>
              <a:t>330g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36208" y="367588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0"/>
                </a:solidFill>
              </a:rPr>
              <a:t>1.12x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236208" y="39136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Multi-use occasions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43708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💡  Insight: Mainstream Standard customers over-index on Tostitos, Tyrrells, Twisties, and Kettle. They prefer larger and value packs (135g–380g). Promotions on these brands and formats will resonate most with the core target.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A623"/>
                </a:solidFill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Trial Store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Experimentation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&amp; Uplift Testing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5"/>
                </a:solidFill>
              </a:rPr>
              <a:t>February – April 2019  |  Stores 77, 86, 88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251960"/>
            <a:ext cx="3657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Methodology: Pyramid Principles | Pearson Correlation + Magnitude Distance Scoring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CONTROL STORE SELECTION METHODOLOGY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TASK 2 · METHOD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069080" cy="64008"/>
          </a:xfrm>
          <a:prstGeom prst="rect">
            <a:avLst/>
          </a:prstGeom>
          <a:solidFill>
            <a:srgbClr val="1E5FA0"/>
          </a:solidFill>
          <a:ln w="12700">
            <a:solidFill>
              <a:srgbClr val="1E5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C"/>
                </a:solidFill>
              </a:rPr>
              <a:t>📈  Pearson Correlation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Measures whether two stores move in the same direction over time. Score near 1.0 = identical seasonal &amp; trend patterns, regardless of absolute size differences.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0690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069080" cy="64008"/>
          </a:xfrm>
          <a:prstGeom prst="rect">
            <a:avLst/>
          </a:prstGeom>
          <a:solidFill>
            <a:srgbClr val="1E5FA0"/>
          </a:solidFill>
          <a:ln w="12700">
            <a:solidFill>
              <a:srgbClr val="1E5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C"/>
                </a:solidFill>
              </a:rPr>
              <a:t>📏  Magnitude Distance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Normalises the absolute monthly difference between stores on a 0–1 scale. Rewards stores that are numerically close in addition to trending similarly.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163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C"/>
                </a:solidFill>
              </a:rPr>
              <a:t>Final Score = 50% Sales Similarity + 50% Customer Count Similarity  |  Each component = 50% Correlation + 50% Magnitude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12480" cy="10972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Trial Store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Control Store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Similarity 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Match Quality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Store 77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Store 233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E4A"/>
                          </a:solidFill>
                        </a:rPr>
                        <a:t>0.978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E4A"/>
                          </a:solidFill>
                        </a:rPr>
                        <a:t>Exceptional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Store 86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Store 231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0.722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Good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Store 88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Store 237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E4A"/>
                          </a:solidFill>
                        </a:rPr>
                        <a:t>0.970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E4A"/>
                          </a:solidFill>
                        </a:rPr>
                        <a:t>Exceptional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65760" y="4480560"/>
            <a:ext cx="8412480" cy="402336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  <p:txBody>
          <a:bodyPr/>
          <a:lstStyle/>
          <a:p>
            <a:endParaRPr lang="ar-DZ" dirty="0"/>
          </a:p>
        </p:txBody>
      </p:sp>
      <p:sp>
        <p:nvSpPr>
          <p:cNvPr id="18" name="Text 15"/>
          <p:cNvSpPr/>
          <p:nvPr/>
        </p:nvSpPr>
        <p:spPr>
          <a:xfrm>
            <a:off x="502920" y="4480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💡  Stores 233 and 237 are near-perfect matches for their trial counterparts. Store 231 is the best available for Store 86, but the lower score warrants additional qualitative review of Store 86's results.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TRIAL ASSESSMENT — STATISTICAL RESULTS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TASK 2 · RESULTS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1440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05840"/>
          <a:ext cx="3246120" cy="17907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Store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Feb t-val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Mar t-val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Apr t-val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233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-0.64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2.95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5.93 ✓✓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7E4A"/>
                          </a:solidFill>
                        </a:rPr>
                        <a:t>✅ SUCCESSFUL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86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0.02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0.92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5A623"/>
                          </a:solidFill>
                        </a:rPr>
                        <a:t>⚠️ INCONCLUSIVE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88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237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0.39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3.38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2.00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7E4A"/>
                          </a:solidFill>
                        </a:rPr>
                        <a:t>✅ SUCCESSFUL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577840" y="24231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99AA"/>
                </a:solidFill>
              </a:rPr>
              <a:t>t &gt; 2.0 = statistically significant at 95% confidence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5577840" y="2697480"/>
            <a:ext cx="324612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577840" y="2697480"/>
            <a:ext cx="64008" cy="4937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87568" y="271576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Store 77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687568" y="29535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+72.1% uplift  |  April vs Control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577840" y="3264408"/>
            <a:ext cx="324612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10"/>
          <p:cNvSpPr/>
          <p:nvPr/>
        </p:nvSpPr>
        <p:spPr>
          <a:xfrm>
            <a:off x="5577840" y="3264408"/>
            <a:ext cx="64008" cy="4937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87568" y="328269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Store 88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687568" y="35204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+25.7% uplift  |  March vs Control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577840" y="3831336"/>
            <a:ext cx="324612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77840" y="3831336"/>
            <a:ext cx="64008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87568" y="384962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Store 86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687568" y="408736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+4.9% uplift  |  April — not sig.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65760" y="3950208"/>
            <a:ext cx="5074920" cy="274320"/>
          </a:xfrm>
          <a:prstGeom prst="roundRect">
            <a:avLst>
              <a:gd name="adj" fmla="val 16667"/>
            </a:avLst>
          </a:prstGeom>
          <a:solidFill>
            <a:srgbClr val="27AE60">
              <a:alpha val="1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" y="3950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7AE60"/>
                </a:solidFill>
              </a:rPr>
              <a:t>Shaded green region = Trial Period (Feb–Apr 2019)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65760" y="4315968"/>
            <a:ext cx="8412480" cy="566928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43434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💡  Insight: Stores 77 and 88 demonstrate progressive, compounding uplift during the trial — indicating growing customer response. Store 86 warrants a qualitative investigation before drawing conclusions about the trial format.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STRATEGIC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6092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60920" y="274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2B4C"/>
                </a:solidFill>
              </a:rPr>
              <a:t>PYRAMID BOTTOM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2062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105156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05156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AE60"/>
                </a:solidFill>
              </a:rPr>
              <a:t>HIGH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069848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069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051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4C"/>
                </a:solidFill>
              </a:rPr>
              <a:t>Roll out trial format to similar stores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Stores 77 &amp; 88 demonstrate significant, growing uplift. Use the control-matching function to identify next-wave stores by similarity score.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057400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057400"/>
            <a:ext cx="4206240" cy="54864"/>
          </a:xfrm>
          <a:prstGeom prst="rect">
            <a:avLst/>
          </a:prstGeom>
          <a:solidFill>
            <a:srgbClr val="1E5FA0"/>
          </a:solidFill>
          <a:ln w="12700">
            <a:solidFill>
              <a:srgbClr val="1E5F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1880" y="214884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1E5FA0">
              <a:alpha val="20000"/>
            </a:srgbClr>
          </a:solidFill>
          <a:ln w="12700">
            <a:solidFill>
              <a:srgbClr val="1E5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1488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5FA0"/>
                </a:solidFill>
              </a:rPr>
              <a:t>HIGH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1480" y="2167128"/>
            <a:ext cx="292608" cy="292608"/>
          </a:xfrm>
          <a:prstGeom prst="ellipse">
            <a:avLst/>
          </a:prstGeom>
          <a:solidFill>
            <a:srgbClr val="1E5FA0"/>
          </a:solidFill>
          <a:ln w="12700">
            <a:solidFill>
              <a:srgbClr val="1E5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167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1488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4C"/>
                </a:solidFill>
              </a:rPr>
              <a:t>Focus marketing on Mainstream Standard segment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24231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44.9% of sales. Prioritize Tostitos, Tyrrells, Twisties &amp; Kettle in shelf placement, digital ads, and in-store promotions for this segment.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154680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54680"/>
            <a:ext cx="4206240" cy="548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11880" y="324612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0D7A8A">
              <a:alpha val="20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32461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7A8A"/>
                </a:solidFill>
              </a:rPr>
              <a:t>HIGH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3264408"/>
            <a:ext cx="292608" cy="292608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32461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4C"/>
                </a:solidFill>
              </a:rPr>
              <a:t>Promote 175g &amp; 380g pack sizes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35204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175g is the #1 revenue SKU. Mainstream Standard shows 16–21% higher affinity for large formats — ideal for value-promo bundles.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960120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960120"/>
            <a:ext cx="420624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105156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105156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74C3C"/>
                </a:solidFill>
              </a:rPr>
              <a:t>MED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846320" y="1069848"/>
            <a:ext cx="292608" cy="29260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069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1051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4C"/>
                </a:solidFill>
              </a:rPr>
              <a:t>Reactivate 'Lost' customers (10,514)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12080" y="13258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Design personalized discount campaigns based on historical purchase behavior. Even 10% recovery = $1M+ revenue potential.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2057400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057400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0" y="214884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21488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</a:rPr>
              <a:t>MED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846320" y="2167128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167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21488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4C"/>
                </a:solidFill>
              </a:rPr>
              <a:t>Investigate Store 86 qualitatively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12080" y="24231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No significant uplift detected. Root-cause analysis: implementation consistency, local competition, or demographic mismatch.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3154680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154680"/>
            <a:ext cx="42062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0" y="324612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0" y="32461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AE60"/>
                </a:solidFill>
              </a:rPr>
              <a:t>LOW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846320" y="3264408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12080" y="32461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4C"/>
                </a:solidFill>
              </a:rPr>
              <a:t>Capitalize on December seasonality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12080" y="35204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Plan 6 weeks ahead. Build promotional bundles, increase stock of Kettle/Doritos large formats and seasonal gifting SKUs.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457200"/>
            <a:ext cx="3657600" cy="3657600"/>
          </a:xfrm>
          <a:prstGeom prst="ellipse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A623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Recommended Actions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for Q3 2019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005840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B4C"/>
                </a:solidFill>
              </a:rPr>
              <a:t>Q3 Immediate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08760" y="2606040"/>
            <a:ext cx="6400800" cy="219456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58775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5"/>
                </a:solidFill>
              </a:rPr>
              <a:t>Use control-matching model to shortlist 15–20 next-wave trial stores.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08376"/>
            <a:ext cx="1005840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0837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B4C"/>
                </a:solidFill>
              </a:rPr>
              <a:t>Q3 Month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508760" y="3099816"/>
            <a:ext cx="6400800" cy="219456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08152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5"/>
                </a:solidFill>
              </a:rPr>
              <a:t>Launch reactivation campaign for 10,514 Lost RFM customers.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1005840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0215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B4C"/>
                </a:solidFill>
              </a:rPr>
              <a:t>Q3 Month 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508760" y="3593592"/>
            <a:ext cx="6400800" cy="219456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575304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5"/>
                </a:solidFill>
              </a:rPr>
              <a:t>Increase 175g &amp; 380g shelf facings for top 20 stores by revenue.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995928"/>
            <a:ext cx="1005840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9592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B4C"/>
                </a:solidFill>
              </a:rPr>
              <a:t>By Oct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508760" y="4087368"/>
            <a:ext cx="6400800" cy="219456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406908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5"/>
                </a:solidFill>
              </a:rPr>
              <a:t>Finalize December promotional bundles — Kettle, Doritos, Smiths.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489704"/>
            <a:ext cx="1005840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8970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B4C"/>
                </a:solidFill>
              </a:rPr>
              <a:t>Ongoing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508760" y="4581144"/>
            <a:ext cx="6400800" cy="219456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4562856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5"/>
                </a:solidFill>
              </a:rPr>
              <a:t>Monthly RFM refresh: monitor Champions → Loyal conversion rates.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</a:rPr>
              <a:t>Thank you — Quantium Analytics Team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1580</Words>
  <Application>Microsoft Office PowerPoint</Application>
  <PresentationFormat>On-screen Show (16:9)</PresentationFormat>
  <Paragraphs>306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Quantium Retail Strategy Report – H2 2019</dc:title>
  <dc:subject>PptxGenJS Presentation</dc:subject>
  <dc:creator>Quantium Analytics</dc:creator>
  <cp:lastModifiedBy>lusiwe cms</cp:lastModifiedBy>
  <cp:revision>2</cp:revision>
  <dcterms:created xsi:type="dcterms:W3CDTF">2026-04-05T11:12:03Z</dcterms:created>
  <dcterms:modified xsi:type="dcterms:W3CDTF">2026-04-05T11:53:57Z</dcterms:modified>
</cp:coreProperties>
</file>